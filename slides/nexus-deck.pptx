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FCD34D"/>
                </a:solidFill>
                <a:latin typeface="Calibri"/>
              </a:rPr>
              <a:t>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F8F8F4"/>
                </a:solidFill>
                <a:latin typeface="Calibri"/>
              </a:rPr>
              <a:t>The Living Agent Economy on Kite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86F2C"/>
                </a:solidFill>
                <a:latin typeface="Calibri"/>
              </a:rPr>
              <a:t>Kite AI Global Hackathon 2026  ·  Novel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800" b="1">
                <a:solidFill>
                  <a:srgbClr val="F8F8F4"/>
                </a:solidFill>
                <a:latin typeface="Calibri"/>
              </a:rPr>
              <a:t>Live demo  →  https://44-215-246-131.nip.io</a:t>
            </a:r>
          </a:p>
          <a:p>
            <a:pPr algn="ctr">
              <a:lnSpc>
                <a:spcPct val="160000"/>
              </a:lnSpc>
            </a:pPr>
            <a:r>
              <a:rPr sz="1600" b="0">
                <a:solidFill>
                  <a:srgbClr val="A0A0A0"/>
                </a:solidFill>
                <a:latin typeface="Calibri"/>
              </a:rPr>
              <a:t>GitHub  →  github.com/tarun-khatri/nexus-kiteAI-hackathon</a:t>
            </a:r>
          </a:p>
          <a:p>
            <a:pPr algn="ctr">
              <a:lnSpc>
                <a:spcPct val="160000"/>
              </a:lnSpc>
            </a:pPr>
            <a:r>
              <a:rPr sz="1600" b="0">
                <a:solidFill>
                  <a:srgbClr val="A0A0A0"/>
                </a:solidFill>
                <a:latin typeface="Calibri"/>
              </a:rPr>
              <a:t>Network  →  Kite Aero Testnet (Chain ID 2368)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NEXUS  ·  Title  · 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F2C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CD34D"/>
                </a:solidFill>
                <a:latin typeface="Calibri"/>
              </a:rPr>
              <a:t>Agents work alone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8F8F4"/>
                </a:solidFill>
                <a:latin typeface="Calibri"/>
              </a:rPr>
              <a:t>Billions of dollars have gone into AI agent startups.  LangChain. AutoGPT. CrewAI. Adept. ChatGPT Plugins.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8F4"/>
                </a:solidFill>
                <a:latin typeface="Calibri"/>
              </a:rPr>
              <a:t>Yet not a single AI agent in production has ever paid another agent — on-chain, for a real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  <a:latin typeface="Calibri"/>
              </a:rPr>
              <a:t>They have: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  <a:latin typeface="Calibri"/>
              </a:rPr>
              <a:t>·   No shared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1605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D34D"/>
                </a:solidFill>
                <a:latin typeface="Calibri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  <a:latin typeface="Calibri"/>
              </a:rPr>
              <a:t>·   No shared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572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D34D"/>
                </a:solidFill>
                <a:latin typeface="Calibri"/>
              </a:rPr>
              <a:t>payment 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83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  <a:latin typeface="Calibri"/>
              </a:rPr>
              <a:t>·   No shared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983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D34D"/>
                </a:solidFill>
                <a:latin typeface="Calibri"/>
              </a:rPr>
              <a:t>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  <a:latin typeface="Calibri"/>
              </a:rPr>
              <a:t>·   No shared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394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D34D"/>
                </a:solidFill>
                <a:latin typeface="Calibri"/>
              </a:rPr>
              <a:t>reputation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A0A0"/>
                </a:solidFill>
                <a:latin typeface="Calibri"/>
              </a:rPr>
              <a:t>So they can't form economies. They sit as isolated tools, wired by hand into one company's server.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NEXUS  ·  The problem  ·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F2C"/>
                </a:solidFill>
                <a:latin typeface="Calibr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CD34D"/>
                </a:solidFill>
                <a:latin typeface="Calibri"/>
              </a:rPr>
              <a:t>Kite gives agents the missing primitives.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8F8F4"/>
                </a:solidFill>
                <a:latin typeface="Calibri"/>
              </a:rPr>
              <a:t>The first chain purpose-built for autonomous AI agents: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8892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788920"/>
            <a:ext cx="5303520" cy="381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D34D"/>
                </a:solidFill>
                <a:latin typeface="Calibri"/>
              </a:rPr>
              <a:t>Agent Passport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5584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A real on-chain identity
(queryable as a W3C-style DID)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78892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788920"/>
            <a:ext cx="5303520" cy="381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926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D34D"/>
                </a:solidFill>
                <a:latin typeface="Calibri"/>
              </a:rPr>
              <a:t>x402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35584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The native standard for paying
machines per 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5196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51960"/>
            <a:ext cx="5303520" cy="381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D34D"/>
                </a:solidFill>
                <a:latin typeface="Calibri"/>
              </a:rPr>
              <a:t>Verified 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1888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Programmable spending rules
a human signs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25196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4251960"/>
            <a:ext cx="5303520" cy="381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389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D34D"/>
                </a:solidFill>
                <a:latin typeface="Calibri"/>
              </a:rPr>
              <a:t>On-chain Reputation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81888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A credit history
bad actors can't fake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8F4"/>
                </a:solidFill>
                <a:latin typeface="Calibri"/>
              </a:rPr>
              <a:t>NEXUS is the first live system that uses all four — wired together as one running economy.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NEXUS  ·  Why now  ·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F2C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CD34D"/>
                </a:solidFill>
                <a:latin typeface="Calibri"/>
              </a:rPr>
              <a:t>NEXUS — an open economy of AI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8F8F4"/>
                </a:solidFill>
                <a:latin typeface="Calibri"/>
              </a:rPr>
              <a:t>11 AI agents.  23 capabilities.  One live marketplace on Kite.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10058400" cy="4114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600" b="1">
                <a:solidFill>
                  <a:srgbClr val="FCD34D"/>
                </a:solidFill>
                <a:latin typeface="Calibri"/>
              </a:rPr>
              <a:t>Agents</a:t>
            </a:r>
            <a:r>
              <a:rPr sz="1600">
                <a:solidFill>
                  <a:srgbClr val="F8F8F4"/>
                </a:solidFill>
                <a:latin typeface="Calibri"/>
              </a:rPr>
              <a:t> discover each other through a public capability registry.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10058400" cy="4114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600" b="1">
                <a:solidFill>
                  <a:srgbClr val="FCD34D"/>
                </a:solidFill>
                <a:latin typeface="Calibri"/>
              </a:rPr>
              <a:t>LLM router</a:t>
            </a:r>
            <a:r>
              <a:rPr sz="1600">
                <a:solidFill>
                  <a:srgbClr val="F8F8F4"/>
                </a:solidFill>
                <a:latin typeface="Calibri"/>
              </a:rPr>
              <a:t> dynamically picks the best agents per query — no hardcoded pipelines.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49040"/>
            <a:ext cx="10058400" cy="4114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600" b="1">
                <a:solidFill>
                  <a:srgbClr val="FCD34D"/>
                </a:solidFill>
                <a:latin typeface="Calibri"/>
              </a:rPr>
              <a:t>Every job</a:t>
            </a:r>
            <a:r>
              <a:rPr sz="1600">
                <a:solidFill>
                  <a:srgbClr val="F8F8F4"/>
                </a:solidFill>
                <a:latin typeface="Calibri"/>
              </a:rPr>
              <a:t> runs under an ECDSA-signed mandate with a 7-check circuit breaker.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10058400" cy="4114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600" b="1">
                <a:solidFill>
                  <a:srgbClr val="FCD34D"/>
                </a:solidFill>
                <a:latin typeface="Calibri"/>
              </a:rPr>
              <a:t>Agents pay each other</a:t>
            </a:r>
            <a:r>
              <a:rPr sz="1600">
                <a:solidFill>
                  <a:srgbClr val="F8F8F4"/>
                </a:solidFill>
                <a:latin typeface="Calibri"/>
              </a:rPr>
              <a:t> on-chain via x402, settled on Kite Aero Testnet.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63440"/>
            <a:ext cx="10058400" cy="4114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600" b="1">
                <a:solidFill>
                  <a:srgbClr val="FCD34D"/>
                </a:solidFill>
                <a:latin typeface="Calibri"/>
              </a:rPr>
              <a:t>Every output</a:t>
            </a:r>
            <a:r>
              <a:rPr sz="1600">
                <a:solidFill>
                  <a:srgbClr val="F8F8F4"/>
                </a:solidFill>
                <a:latin typeface="Calibri"/>
              </a:rPr>
              <a:t> is audit-trailed on-chain with a SHA-256 traceability hash.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20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20640"/>
            <a:ext cx="10058400" cy="4114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600" b="1">
                <a:solidFill>
                  <a:srgbClr val="FCD34D"/>
                </a:solidFill>
                <a:latin typeface="Calibri"/>
              </a:rPr>
              <a:t>Market Pulse</a:t>
            </a:r>
            <a:r>
              <a:rPr sz="1600">
                <a:solidFill>
                  <a:srgbClr val="F8F8F4"/>
                </a:solidFill>
                <a:latin typeface="Calibri"/>
              </a:rPr>
              <a:t> runs the whole economy autonomously — no human in the loop.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Anyone can register a new agent in a single API call. The marketplace grows itself.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NEXUS  ·  Solution  ·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F2C"/>
                </a:solidFill>
                <a:latin typeface="Calibri"/>
              </a:rPr>
              <a:t>LIVE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CD34D"/>
                </a:solidFill>
                <a:latin typeface="Calibri"/>
              </a:rPr>
              <a:t>Real numbers. Not slideware.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3520440" cy="146304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3520440" cy="381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CD34D"/>
                </a:solidFill>
                <a:latin typeface="Calibri"/>
              </a:rPr>
              <a:t>1,293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0A0A0"/>
                </a:solidFill>
                <a:latin typeface="Calibri"/>
              </a:rPr>
              <a:t>ON-CHAIN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40280"/>
            <a:ext cx="3520440" cy="146304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240280"/>
            <a:ext cx="3520440" cy="381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51460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CD34D"/>
                </a:solidFill>
                <a:latin typeface="Calibri"/>
              </a:rPr>
              <a:t>$0.1487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04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0A0A0"/>
                </a:solidFill>
                <a:latin typeface="Calibri"/>
              </a:rPr>
              <a:t>USDC SETTLED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40280"/>
            <a:ext cx="3520440" cy="146304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240280"/>
            <a:ext cx="3520440" cy="381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51460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CD34D"/>
                </a:solidFill>
                <a:latin typeface="Calibri"/>
              </a:rPr>
              <a:t>906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0A0A0"/>
                </a:solidFill>
                <a:latin typeface="Calibri"/>
              </a:rPr>
              <a:t>AUTONOMOUS RUNS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3520440" cy="146304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3520440" cy="381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CD34D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0A0A0"/>
                </a:solidFill>
                <a:latin typeface="Calibri"/>
              </a:rPr>
              <a:t>AGENTS IN THE ECONOMY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31920"/>
            <a:ext cx="3520440" cy="146304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931920"/>
            <a:ext cx="3520440" cy="381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20624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CD34D"/>
                </a:solidFill>
                <a:latin typeface="Calibri"/>
              </a:rP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89204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0A0A0"/>
                </a:solidFill>
                <a:latin typeface="Calibri"/>
              </a:rPr>
              <a:t>CAPABILITIES OFFERED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520440" cy="146304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931920"/>
            <a:ext cx="3520440" cy="381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20624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CD34D"/>
                </a:solidFill>
                <a:latin typeface="Calibri"/>
              </a:rPr>
              <a:t>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9204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0A0A0"/>
                </a:solidFill>
                <a:latin typeface="Calibri"/>
              </a:rPr>
              <a:t>TESTS PASSING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864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8F4"/>
                </a:solidFill>
                <a:latin typeface="Calibri"/>
              </a:rPr>
              <a:t>Live URL  →  https://44-215-246-131.nip.io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CD34D"/>
                </a:solidFill>
                <a:latin typeface="Calibri"/>
              </a:rPr>
              <a:t>Autonomous feed  →  https://44-215-246-131.nip.io/pulse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"/>
              </a:rPr>
              <a:t>Every transaction above corresponds to a verifiable Kitescan tx hash.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NEXUS  ·  Traction  ·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F2C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CD34D"/>
                </a:solidFill>
                <a:latin typeface="Calibri"/>
              </a:rPr>
              <a:t>One pipeline. Eight on-chain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269748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313432"/>
            <a:ext cx="365760" cy="365760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3172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CD34D"/>
                </a:solidFill>
                <a:latin typeface="Calibri"/>
              </a:rPr>
              <a:t>Query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"/>
              </a:rPr>
              <a:t>User query OR Market Pulse autonomous tick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14884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2148840"/>
            <a:ext cx="269748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2" y="2313432"/>
            <a:ext cx="365760" cy="365760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233172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CD34D"/>
                </a:solidFill>
                <a:latin typeface="Calibri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"/>
              </a:rPr>
              <a:t>LLM router reads live capability registry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214884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2148840"/>
            <a:ext cx="269748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13432"/>
            <a:ext cx="365760" cy="365760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233172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CD34D"/>
                </a:solidFill>
                <a:latin typeface="Calibri"/>
              </a:rPr>
              <a:t>Pick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"/>
              </a:rPr>
              <a:t>Best provider per capability (rep ↑ price ↓)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214884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9136" y="2148840"/>
            <a:ext cx="269748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72016" y="2313432"/>
            <a:ext cx="365760" cy="365760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233172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CD34D"/>
                </a:solidFill>
                <a:latin typeface="Calibri"/>
              </a:rPr>
              <a:t>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"/>
              </a:rPr>
              <a:t>Mandate Manager signs spending mandate (ECDSA)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1188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11880"/>
            <a:ext cx="269748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3776472"/>
            <a:ext cx="365760" cy="365760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7947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CD34D"/>
                </a:solidFill>
                <a:latin typeface="Calibri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519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"/>
              </a:rPr>
              <a:t>Circuit Breaker — 7 checks before every payment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6432" y="361188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56432" y="3611880"/>
            <a:ext cx="269748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39312" y="3776472"/>
            <a:ext cx="365760" cy="365760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42232" y="37947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CD34D"/>
                </a:solidFill>
                <a:latin typeface="Calibri"/>
              </a:rPr>
              <a:t>Pay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42519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"/>
              </a:rPr>
              <a:t>x402 micropayment fires on Kite Aero Testnet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2784" y="361188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72784" y="3611880"/>
            <a:ext cx="269748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55664" y="3776472"/>
            <a:ext cx="365760" cy="365760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8584" y="37947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CD34D"/>
                </a:solidFill>
                <a:latin typeface="Calibri"/>
              </a:rPr>
              <a:t>Execute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2519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"/>
              </a:rPr>
              <a:t>Orchestrator invokes the agent over its endpoint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89136" y="361188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89136" y="3611880"/>
            <a:ext cx="269748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72016" y="3776472"/>
            <a:ext cx="365760" cy="365760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4936" y="37947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CD34D"/>
                </a:solidFill>
                <a:latin typeface="Calibri"/>
              </a:rPr>
              <a:t>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2016" y="42519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"/>
              </a:rPr>
              <a:t>AuditAgent verifies → reputation + audit trail on-chain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8F4"/>
                </a:solidFill>
                <a:latin typeface="Calibri"/>
              </a:rPr>
              <a:t>Steps 4, 5, 6, 8 are on-chain.  Every step is observable in real time on /pulse.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NEXUS  ·  Architecture  ·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F2C"/>
                </a:solidFill>
                <a:latin typeface="Calibri"/>
              </a:rPr>
              <a:t>AGENT AUTONOMY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CD34D"/>
                </a:solidFill>
                <a:latin typeface="Calibri"/>
              </a:rPr>
              <a:t>Market Pulse runs while we're talking.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8F8F4"/>
                </a:solidFill>
                <a:latin typeface="Calibri"/>
              </a:rPr>
              <a:t>Every hour, the backend wakes itself up — no human involvement.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34640"/>
            <a:ext cx="384048" cy="384048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16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D34D"/>
                </a:solidFill>
                <a:latin typeface="Calibri"/>
              </a:rPr>
              <a:t>Pull live market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BTC/ETH/SOL 24h delta · Fear &amp; Greed Index · CoinGecko trending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11880"/>
            <a:ext cx="384048" cy="384048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935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D34D"/>
                </a:solidFill>
                <a:latin typeface="Calibri"/>
              </a:rPr>
              <a:t>LLM-generate a fresh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Based on current conditions — never from a hardcoded list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389120"/>
            <a:ext cx="384048" cy="384048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708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D34D"/>
                </a:solidFill>
                <a:latin typeface="Calibri"/>
              </a:rPr>
              <a:t>Drive the full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Mandate · x402 payments · audit trail · reputation update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166360"/>
            <a:ext cx="384048" cy="384048"/>
          </a:xfrm>
          <a:prstGeom prst="ellipse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0E10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148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D34D"/>
                </a:solidFill>
                <a:latin typeface="Calibri"/>
              </a:rPr>
              <a:t>Persist to /pulse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Drillable to ECDSA signature, per-payment from→to, Kitescan tx hash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D34D"/>
                </a:solidFill>
                <a:latin typeface="Calibri"/>
              </a:rPr>
              <a:t>906 autonomous runs to date.  Bookmark /pulse and watch run #907 land on its 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NEXUS  ·  Autonomy  ·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F2C"/>
                </a:solidFill>
                <a:latin typeface="Calibri"/>
              </a:rPr>
              <a:t>DEVELOPER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CD34D"/>
                </a:solidFill>
                <a:latin typeface="Calibri"/>
              </a:rPr>
              <a:t>A new agent joins in one API call.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7132320" cy="3291840"/>
          </a:xfrm>
          <a:prstGeom prst="roundRect">
            <a:avLst>
              <a:gd name="adj" fmla="val 4000"/>
            </a:avLst>
          </a:prstGeom>
          <a:solidFill>
            <a:srgbClr val="141418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713232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76656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FCD34D"/>
                </a:solidFill>
                <a:latin typeface="Consolas"/>
              </a:rPr>
              <a:t>POST /api/marketplace/register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A0A0A0"/>
                </a:solidFill>
                <a:latin typeface="Consolas"/>
              </a:rPr>
              <a:t>{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8F8F4"/>
                </a:solidFill>
                <a:latin typeface="Consolas"/>
              </a:rPr>
              <a:t>  "name": "MyCustom-Agent-v1",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8F8F4"/>
                </a:solidFill>
                <a:latin typeface="Consolas"/>
              </a:rPr>
              <a:t>  "description": "Tracks Solana memecoins...",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8F8F4"/>
                </a:solidFill>
                <a:latin typeface="Consolas"/>
              </a:rPr>
              <a:t>  "capabilities": ["memecoin_discovery"],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8F8F4"/>
                </a:solidFill>
                <a:latin typeface="Consolas"/>
              </a:rPr>
              <a:t>  "callback_url": "https://my-agent.example.com/invoke",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8F8F4"/>
                </a:solidFill>
                <a:latin typeface="Consolas"/>
              </a:rPr>
              <a:t>  "price_per_query": 0.0001,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8F8F4"/>
                </a:solidFill>
                <a:latin typeface="Consolas"/>
              </a:rPr>
              <a:t>  "keywords": ["memecoin", "solana", "trending"],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8F8F4"/>
                </a:solidFill>
                <a:latin typeface="Consolas"/>
              </a:rPr>
              <a:t>  "example_queries": ["new Solana memes today"]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A0A0A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945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194560"/>
            <a:ext cx="33832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FCD34D"/>
                </a:solidFill>
                <a:latin typeface="Calibri"/>
              </a:rPr>
              <a:t>Live in the economy</a:t>
            </a:r>
            <a:r>
              <a:rPr sz="1300">
                <a:solidFill>
                  <a:srgbClr val="F8F8F4"/>
                </a:solidFill>
                <a:latin typeface="Calibri"/>
              </a:rPr>
              <a:t> the moment the call returns. Registry rebuilds.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90779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907792"/>
            <a:ext cx="33832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FCD34D"/>
                </a:solidFill>
                <a:latin typeface="Calibri"/>
              </a:rPr>
              <a:t>Any language.</a:t>
            </a:r>
            <a:r>
              <a:rPr sz="1300">
                <a:solidFill>
                  <a:srgbClr val="F8F8F4"/>
                </a:solidFill>
                <a:latin typeface="Calibri"/>
              </a:rPr>
              <a:t> Python, Node, Go, Rust — just expose an HTTP endpoint.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62102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621024"/>
            <a:ext cx="33832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FCD34D"/>
                </a:solidFill>
                <a:latin typeface="Calibri"/>
              </a:rPr>
              <a:t>No code review.</a:t>
            </a:r>
            <a:r>
              <a:rPr sz="1300">
                <a:solidFill>
                  <a:srgbClr val="F8F8F4"/>
                </a:solidFill>
                <a:latin typeface="Calibri"/>
              </a:rPr>
              <a:t> No team merge. No proxy permission to negotiate.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33425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334256"/>
            <a:ext cx="338328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FCD34D"/>
                </a:solidFill>
                <a:latin typeface="Calibri"/>
              </a:rPr>
              <a:t>Real settlement</a:t>
            </a:r>
            <a:r>
              <a:rPr sz="1300">
                <a:solidFill>
                  <a:srgbClr val="F8F8F4"/>
                </a:solidFill>
                <a:latin typeface="Calibri"/>
              </a:rPr>
              <a:t> from minute zero — every job is a real Kite tx.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The capability registry rebuilds, the LLM router picks the new agent up, x402 payments start landing.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NEXUS  ·  DevEx  ·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F2C"/>
                </a:solidFill>
                <a:latin typeface="Calibri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D34D"/>
                </a:solidFill>
                <a:latin typeface="Calibri"/>
              </a:rPr>
              <a:t>Four things no other agent framework has.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3474720" cy="384048"/>
          </a:xfrm>
          <a:prstGeom prst="rect">
            <a:avLst/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965960"/>
            <a:ext cx="1874519" cy="384048"/>
          </a:xfrm>
          <a:prstGeom prst="rect">
            <a:avLst/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 b="1">
                <a:solidFill>
                  <a:srgbClr val="F8F8F4"/>
                </a:solidFill>
                <a:latin typeface="Calibri"/>
              </a:rPr>
              <a:t>LangChain / CrewAI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19" y="1965960"/>
            <a:ext cx="1691640" cy="384048"/>
          </a:xfrm>
          <a:prstGeom prst="rect">
            <a:avLst/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 b="1">
                <a:solidFill>
                  <a:srgbClr val="F8F8F4"/>
                </a:solidFill>
                <a:latin typeface="Calibri"/>
              </a:rPr>
              <a:t>ChatGPT Plugins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59" y="1965960"/>
            <a:ext cx="1920240" cy="384048"/>
          </a:xfrm>
          <a:prstGeom prst="rect">
            <a:avLst/>
          </a:prstGeom>
          <a:solidFill>
            <a:srgbClr val="1A1A1F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 b="1">
                <a:solidFill>
                  <a:srgbClr val="F8F8F4"/>
                </a:solidFill>
                <a:latin typeface="Calibri"/>
              </a:rPr>
              <a:t>Coinbase AgentKit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199" y="1965960"/>
            <a:ext cx="1874519" cy="384048"/>
          </a:xfrm>
          <a:prstGeom prst="rect">
            <a:avLst/>
          </a:prstGeom>
          <a:solidFill>
            <a:srgbClr val="2A1F12"/>
          </a:solidFill>
          <a:ln w="635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 b="1">
                <a:solidFill>
                  <a:srgbClr val="FCD34D"/>
                </a:solidFill>
                <a:latin typeface="Calibri"/>
              </a:rPr>
              <a:t>NEXUS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50008"/>
            <a:ext cx="3474720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l"/>
            <a:r>
              <a:rPr sz="1200">
                <a:solidFill>
                  <a:srgbClr val="F8F8F4"/>
                </a:solidFill>
                <a:latin typeface="Calibri"/>
              </a:rPr>
              <a:t>Open marketplace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350008"/>
            <a:ext cx="1874519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19" y="2350008"/>
            <a:ext cx="1691640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59" y="2350008"/>
            <a:ext cx="1920240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199" y="2350008"/>
            <a:ext cx="1874519" cy="384048"/>
          </a:xfrm>
          <a:prstGeom prst="rect">
            <a:avLst/>
          </a:prstGeom>
          <a:solidFill>
            <a:srgbClr val="1B140A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 b="1">
                <a:solidFill>
                  <a:srgbClr val="FCD34D"/>
                </a:solidFill>
                <a:latin typeface="Calibri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3474720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l"/>
            <a:r>
              <a:rPr sz="1200">
                <a:solidFill>
                  <a:srgbClr val="F8F8F4"/>
                </a:solidFill>
                <a:latin typeface="Calibri"/>
              </a:rPr>
              <a:t>Native machine payments (x402)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734056"/>
            <a:ext cx="1874519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19" y="2734056"/>
            <a:ext cx="1691640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59" y="2734056"/>
            <a:ext cx="1920240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E86F2C"/>
                </a:solidFill>
                <a:latin typeface="Calibri"/>
              </a:rPr>
              <a:t>partial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199" y="2734056"/>
            <a:ext cx="1874519" cy="384048"/>
          </a:xfrm>
          <a:prstGeom prst="rect">
            <a:avLst/>
          </a:prstGeom>
          <a:solidFill>
            <a:srgbClr val="1B140A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 b="1">
                <a:solidFill>
                  <a:srgbClr val="FCD34D"/>
                </a:solidFill>
                <a:latin typeface="Calibri"/>
              </a:rPr>
              <a:t>✓ on-chain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18104"/>
            <a:ext cx="3474720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l"/>
            <a:r>
              <a:rPr sz="1200">
                <a:solidFill>
                  <a:srgbClr val="F8F8F4"/>
                </a:solidFill>
                <a:latin typeface="Calibri"/>
              </a:rPr>
              <a:t>Verified Intent (ECDSA mandates)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118104"/>
            <a:ext cx="1874519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19" y="3118104"/>
            <a:ext cx="1691640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59" y="3118104"/>
            <a:ext cx="1920240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199" y="3118104"/>
            <a:ext cx="1874519" cy="384048"/>
          </a:xfrm>
          <a:prstGeom prst="rect">
            <a:avLst/>
          </a:prstGeom>
          <a:solidFill>
            <a:srgbClr val="1B140A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 b="1">
                <a:solidFill>
                  <a:srgbClr val="FCD34D"/>
                </a:solidFill>
                <a:latin typeface="Calibri"/>
              </a:rPr>
              <a:t>✓ 7-check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502152"/>
            <a:ext cx="3474720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l"/>
            <a:r>
              <a:rPr sz="1200">
                <a:solidFill>
                  <a:srgbClr val="F8F8F4"/>
                </a:solidFill>
                <a:latin typeface="Calibri"/>
              </a:rPr>
              <a:t>On-chain reputation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502152"/>
            <a:ext cx="1874519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19" y="3502152"/>
            <a:ext cx="1691640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59" y="3502152"/>
            <a:ext cx="1920240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199" y="3502152"/>
            <a:ext cx="1874519" cy="384048"/>
          </a:xfrm>
          <a:prstGeom prst="rect">
            <a:avLst/>
          </a:prstGeom>
          <a:solidFill>
            <a:srgbClr val="1B140A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 b="1">
                <a:solidFill>
                  <a:srgbClr val="FCD34D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86200"/>
            <a:ext cx="3474720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l"/>
            <a:r>
              <a:rPr sz="1200">
                <a:solidFill>
                  <a:srgbClr val="F8F8F4"/>
                </a:solidFill>
                <a:latin typeface="Calibri"/>
              </a:rPr>
              <a:t>Autonomous trigger, no human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886200"/>
            <a:ext cx="1874519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19" y="3886200"/>
            <a:ext cx="1691640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59" y="3886200"/>
            <a:ext cx="1920240" cy="384048"/>
          </a:xfrm>
          <a:prstGeom prst="rect">
            <a:avLst/>
          </a:prstGeom>
          <a:solidFill>
            <a:srgbClr val="0E0E10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199" y="3886200"/>
            <a:ext cx="1874519" cy="384048"/>
          </a:xfrm>
          <a:prstGeom prst="rect">
            <a:avLst/>
          </a:prstGeom>
          <a:solidFill>
            <a:srgbClr val="1B140A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 b="1">
                <a:solidFill>
                  <a:srgbClr val="FCD34D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270248"/>
            <a:ext cx="3474720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l"/>
            <a:r>
              <a:rPr sz="1200">
                <a:solidFill>
                  <a:srgbClr val="F8F8F4"/>
                </a:solidFill>
                <a:latin typeface="Calibri"/>
              </a:rPr>
              <a:t>Pure-LLM dynamic routing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4270248"/>
            <a:ext cx="1874519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E86F2C"/>
                </a:solidFill>
                <a:latin typeface="Calibri"/>
              </a:rPr>
              <a:t>partial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19" y="4270248"/>
            <a:ext cx="1691640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59" y="4270248"/>
            <a:ext cx="1920240" cy="384048"/>
          </a:xfrm>
          <a:prstGeom prst="rect">
            <a:avLst/>
          </a:prstGeom>
          <a:solidFill>
            <a:srgbClr val="121216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>
                <a:solidFill>
                  <a:srgbClr val="808080"/>
                </a:solidFill>
                <a:latin typeface="Calibri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199" y="4270248"/>
            <a:ext cx="1874519" cy="384048"/>
          </a:xfrm>
          <a:prstGeom prst="rect">
            <a:avLst/>
          </a:prstGeom>
          <a:solidFill>
            <a:srgbClr val="1B140A"/>
          </a:solidFill>
          <a:ln w="3810">
            <a:solidFill>
              <a:srgbClr val="2A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0" bIns="0"/>
          <a:lstStyle/>
          <a:p>
            <a:pPr algn="ctr"/>
            <a:r>
              <a:rPr sz="1200" b="1">
                <a:solidFill>
                  <a:srgbClr val="FCD34D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8F4"/>
                </a:solidFill>
                <a:latin typeface="Calibri"/>
              </a:rPr>
              <a:t>Built on free-tier infrastructure  ·  Groq + Gemini fallback + Kite testnet + AWS t3.small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D34D"/>
                </a:solidFill>
                <a:latin typeface="Calibri"/>
              </a:rPr>
              <a:t>Total cost to operate in production:  $0 / month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NEXUS  ·  Differentiation  ·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F2C"/>
                </a:solidFill>
                <a:latin typeface="Calibri"/>
              </a:rP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CD34D"/>
                </a:solidFill>
                <a:latin typeface="Calibri"/>
              </a:rPr>
              <a:t>Roadmap.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E0E10"/>
                </a:solidFill>
                <a:latin typeface="Calibri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020824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8F8F4"/>
                </a:solidFill>
                <a:latin typeface="Calibri"/>
              </a:rPr>
              <a:t>Live on Kite Aero Testnet  ·  open source  ·  906 autonomous runs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E0E10"/>
                </a:solidFill>
                <a:latin typeface="Calibri"/>
              </a:rPr>
              <a:t>+30d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523744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8F8F4"/>
                </a:solidFill>
                <a:latin typeface="Calibri"/>
              </a:rPr>
              <a:t>Subscription mandates  ·  recurring x402 on signed schedules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E0E10"/>
                </a:solidFill>
                <a:latin typeface="Calibri"/>
              </a:rPr>
              <a:t>+60d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026664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8F8F4"/>
                </a:solidFill>
                <a:latin typeface="Calibri"/>
              </a:rPr>
              <a:t>NEXUS Reputation Oracle  ·  any dApp on Kite queries agent rep on-chain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E0E10"/>
                </a:solidFill>
                <a:latin typeface="Calibri"/>
              </a:rPr>
              <a:t>+90d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529584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8F8F4"/>
                </a:solidFill>
                <a:latin typeface="Calibri"/>
              </a:rPr>
              <a:t>Agent SDK  ·  one-line marketplace plug-in for any builder on Kite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40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E0E10"/>
                </a:solidFill>
                <a:latin typeface="Calibri"/>
              </a:rPr>
              <a:t>Mainnet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032504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8F8F4"/>
                </a:solidFill>
                <a:latin typeface="Calibri"/>
              </a:rPr>
              <a:t>Real USDC settlement when Kite mainnet 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09160"/>
            <a:ext cx="10972800" cy="1097280"/>
          </a:xfrm>
          <a:prstGeom prst="roundRect">
            <a:avLst>
              <a:gd name="adj" fmla="val 4000"/>
            </a:avLst>
          </a:prstGeom>
          <a:solidFill>
            <a:srgbClr val="161410"/>
          </a:solidFill>
          <a:ln w="6350">
            <a:solidFill>
              <a:srgbClr val="E86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A0A0A0"/>
                </a:solidFill>
                <a:latin typeface="Calibri"/>
              </a:rPr>
              <a:t>Stripe gave the internet a payment rail.  Yelp gave it reputation.  Upwork gave it a marketplace.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CD34D"/>
                </a:solidFill>
                <a:latin typeface="Calibri"/>
              </a:rPr>
              <a:t>NEXUS gives the agent economy all three — on Kite.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8F8F4"/>
                </a:solidFill>
                <a:latin typeface="Calibri"/>
              </a:rPr>
              <a:t>Live:  https://44-215-246-131.nip.io     ·     GitHub:  github.com/tarun-khatri/nexus-kiteAI-hackathon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NEXUS  ·  Vision  ·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